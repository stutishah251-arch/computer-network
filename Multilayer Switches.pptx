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66" r:id="rId2"/>
    <p:sldId id="267" r:id="rId3"/>
    <p:sldId id="268" r:id="rId4"/>
    <p:sldId id="269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0" r:id="rId16"/>
  </p:sldIdLst>
  <p:sldSz cx="9144000" cy="5143500" type="screen16x9"/>
  <p:notesSz cx="5143500" cy="9144000"/>
  <p:embeddedFontLst>
    <p:embeddedFont>
      <p:font typeface="Bodoni MT" panose="02070603080606020203" pitchFamily="18" charset="0"/>
      <p:regular r:id="rId18"/>
      <p:bold r:id="rId19"/>
      <p:italic r:id="rId20"/>
      <p:boldItalic r:id="rId21"/>
    </p:embeddedFont>
    <p:embeddedFont>
      <p:font typeface="Verdana" panose="020B0604030504040204" pitchFamily="3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42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A9F01-4939-4386-8D07-636E6F28F105}" v="1" dt="2026-07-05T12:40:20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79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7" name="Google Shape;1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6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4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3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1261317" y="347238"/>
            <a:ext cx="6621363" cy="107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 fontScale="90000"/>
          </a:bodyPr>
          <a:lstStyle/>
          <a:p>
            <a:pPr>
              <a:buSzPct val="100000"/>
            </a:pPr>
            <a:r>
              <a:rPr lang="en-US" sz="1600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 </a:t>
            </a:r>
            <a:r>
              <a:rPr lang="en-US" sz="1600" dirty="0"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  <a:t> Mahavir Education Trust’s</a:t>
            </a:r>
            <a:br>
              <a:rPr lang="en-US" sz="1350" dirty="0"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</a:br>
            <a:r>
              <a:rPr lang="en-US" sz="3000" dirty="0"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  <a:t>Shah &amp; Anchor </a:t>
            </a:r>
            <a:r>
              <a:rPr lang="en-US" sz="3000" dirty="0" err="1"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  <a:t>Kutchhi</a:t>
            </a:r>
            <a:r>
              <a:rPr lang="en-US" sz="3000" dirty="0"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  <a:t> Engineering College</a:t>
            </a:r>
            <a:br>
              <a:rPr lang="en-US" sz="2325" dirty="0"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</a:br>
            <a:r>
              <a:rPr lang="en-US" sz="1600" dirty="0"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  <a:t>Chembur, Mumbai-400088</a:t>
            </a:r>
            <a:br>
              <a:rPr lang="en-US" sz="1600" dirty="0"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</a:b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  <a:t>(An Autonomous Institute Affiliated to University of Mumbai)</a:t>
            </a:r>
            <a:endParaRPr sz="1600" dirty="0">
              <a:latin typeface="Times New Roman" panose="02020603050405020304" pitchFamily="18" charset="0"/>
              <a:ea typeface="Bodoni"/>
              <a:cs typeface="Times New Roman" panose="02020603050405020304" pitchFamily="18" charset="0"/>
              <a:sym typeface="Bodon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676408" y="3407820"/>
            <a:ext cx="5791184" cy="65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US" sz="3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  <a:t>Department of Cyber Security</a:t>
            </a:r>
            <a:endParaRPr sz="16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chemeClr val="dk1"/>
              </a:buClr>
              <a:buSzPts val="1600"/>
            </a:pPr>
            <a:endParaRPr sz="788" b="1" i="1" dirty="0">
              <a:solidFill>
                <a:srgbClr val="5A0886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726991" y="4065465"/>
            <a:ext cx="5690018" cy="120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presentation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algn="ctr">
              <a:buClr>
                <a:schemeClr val="dk1"/>
              </a:buClr>
              <a:buSzPts val="1200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on</a:t>
            </a:r>
            <a:endParaRPr sz="12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0" algn="ctr">
              <a:buClr>
                <a:schemeClr val="dk1"/>
              </a:buClr>
              <a:buSzPts val="1600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Multilayer Switches</a:t>
            </a:r>
            <a:endParaRPr sz="12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chemeClr val="dk1"/>
              </a:buClr>
              <a:buSzPts val="1200"/>
            </a:pPr>
            <a:r>
              <a:rPr lang="en-US" sz="12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(Subject: Operating Systems, CSCOR1PC201, III Semester)</a:t>
            </a:r>
            <a:endParaRPr sz="1200" dirty="0">
              <a:solidFill>
                <a:srgbClr val="000000"/>
              </a:solidFill>
              <a:highlight>
                <a:schemeClr val="lt1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chemeClr val="dk1"/>
              </a:buClr>
              <a:buSzPts val="1200"/>
            </a:pPr>
            <a:endParaRPr lang="en-US" sz="900" b="1" dirty="0">
              <a:latin typeface="Verdana"/>
              <a:ea typeface="Verdana"/>
            </a:endParaRPr>
          </a:p>
        </p:txBody>
      </p:sp>
      <p:pic>
        <p:nvPicPr>
          <p:cNvPr id="91" name="Google Shape;91;p1" descr="A white building with many balconi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8288" y="1680651"/>
            <a:ext cx="2487422" cy="1782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 descr="A circular logo with a circle and a logo on i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"/>
          <p:cNvGrpSpPr/>
          <p:nvPr/>
        </p:nvGrpSpPr>
        <p:grpSpPr>
          <a:xfrm>
            <a:off x="1788" y="-20458"/>
            <a:ext cx="1082876" cy="5141835"/>
            <a:chOff x="7300" y="2220"/>
            <a:chExt cx="1443834" cy="6855780"/>
          </a:xfrm>
        </p:grpSpPr>
        <p:sp>
          <p:nvSpPr>
            <p:cNvPr id="94" name="Google Shape;94;p1"/>
            <p:cNvSpPr/>
            <p:nvPr/>
          </p:nvSpPr>
          <p:spPr>
            <a:xfrm>
              <a:off x="7300" y="2220"/>
              <a:ext cx="425219" cy="6855780"/>
            </a:xfrm>
            <a:prstGeom prst="rect">
              <a:avLst/>
            </a:prstGeom>
            <a:solidFill>
              <a:srgbClr val="5A0886"/>
            </a:solidFill>
            <a:ln w="25400" cap="flat" cmpd="sng">
              <a:solidFill>
                <a:srgbClr val="5A08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5" name="Google Shape;95;p1" descr="A logo with a blue design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4957" y="263201"/>
              <a:ext cx="926177" cy="8419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>
            <a:spLocks noGrp="1"/>
          </p:cNvSpPr>
          <p:nvPr>
            <p:ph type="title"/>
          </p:nvPr>
        </p:nvSpPr>
        <p:spPr>
          <a:xfrm>
            <a:off x="3278818" y="257913"/>
            <a:ext cx="2861267" cy="45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>
              <a:buSzPts val="2300"/>
            </a:pPr>
            <a:r>
              <a:rPr lang="en-US" sz="2700" b="1">
                <a:latin typeface="Bodoni"/>
                <a:ea typeface="Bodoni"/>
                <a:cs typeface="Bodoni"/>
                <a:sym typeface="Bodoni"/>
              </a:rPr>
              <a:t>Vision &amp; Mission</a:t>
            </a:r>
            <a:endParaRPr sz="2700" b="1"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948518" y="1530395"/>
            <a:ext cx="3046070" cy="39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just">
              <a:lnSpc>
                <a:spcPct val="90000"/>
              </a:lnSpc>
              <a:buClr>
                <a:srgbClr val="000000"/>
              </a:buClr>
              <a:buSzPts val="1600"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rPr>
              <a:t>To become a globally recognized institution offering quality education and enhancing professional standards</a:t>
            </a:r>
            <a:endParaRPr sz="1200">
              <a:solidFill>
                <a:schemeClr val="dk1"/>
              </a:solidFill>
              <a:latin typeface="Verdana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899948" y="3125238"/>
            <a:ext cx="3094640" cy="126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just">
              <a:spcBef>
                <a:spcPts val="300"/>
              </a:spcBef>
              <a:buClr>
                <a:srgbClr val="000000"/>
              </a:buClr>
              <a:buSzPts val="1600"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rPr>
              <a:t>To impart high quality technical education to the students by providing an excellent academic environment, well - equipped laboratories and training through motivated teachers.</a:t>
            </a:r>
            <a:endParaRPr sz="1200">
              <a:solidFill>
                <a:schemeClr val="dk1"/>
              </a:solidFill>
              <a:latin typeface="Verdana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grpSp>
        <p:nvGrpSpPr>
          <p:cNvPr id="104" name="Google Shape;104;p5"/>
          <p:cNvGrpSpPr/>
          <p:nvPr/>
        </p:nvGrpSpPr>
        <p:grpSpPr>
          <a:xfrm>
            <a:off x="899593" y="1003062"/>
            <a:ext cx="1908203" cy="324621"/>
            <a:chOff x="379810" y="257523"/>
            <a:chExt cx="3038100" cy="471600"/>
          </a:xfrm>
        </p:grpSpPr>
        <p:sp>
          <p:nvSpPr>
            <p:cNvPr id="105" name="Google Shape;105;p5"/>
            <p:cNvSpPr/>
            <p:nvPr/>
          </p:nvSpPr>
          <p:spPr>
            <a:xfrm rot="5400000">
              <a:off x="1663060" y="-1025727"/>
              <a:ext cx="471600" cy="3038100"/>
            </a:xfrm>
            <a:prstGeom prst="roundRect">
              <a:avLst>
                <a:gd name="adj" fmla="val 50000"/>
              </a:avLst>
            </a:prstGeom>
            <a:solidFill>
              <a:srgbClr val="5A0886"/>
            </a:solidFill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51431" rIns="51431" bIns="51431" anchor="ctr" anchorCtr="0">
              <a:noAutofit/>
            </a:bodyPr>
            <a:lstStyle/>
            <a:p>
              <a:pPr>
                <a:buClr>
                  <a:srgbClr val="000000"/>
                </a:buClr>
                <a:buSzPts val="1600"/>
              </a:pPr>
              <a:endParaRPr sz="1200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758977" y="281216"/>
              <a:ext cx="2372333" cy="372251"/>
            </a:xfrm>
            <a:prstGeom prst="rect">
              <a:avLst/>
            </a:prstGeom>
            <a:solidFill>
              <a:srgbClr val="5A0886"/>
            </a:solidFill>
            <a:ln>
              <a:noFill/>
            </a:ln>
          </p:spPr>
          <p:txBody>
            <a:bodyPr spcFirstLastPara="1" wrap="square" lIns="51431" tIns="51431" rIns="51431" bIns="51431" anchor="t" anchorCtr="0">
              <a:no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600"/>
              </a:pPr>
              <a:r>
                <a:rPr lang="en-US" sz="1200" b="1">
                  <a:solidFill>
                    <a:srgbClr val="FFFFFF"/>
                  </a:solidFill>
                  <a:latin typeface="Verdana"/>
                  <a:ea typeface="Verdana"/>
                  <a:cs typeface="Times New Roman" panose="02020603050405020304" pitchFamily="18" charset="0"/>
                  <a:sym typeface="Verdana"/>
                </a:rPr>
                <a:t>Institute Vision</a:t>
              </a:r>
              <a:endParaRPr sz="825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</p:grpSp>
      <p:sp>
        <p:nvSpPr>
          <p:cNvPr id="107" name="Google Shape;107;p5"/>
          <p:cNvSpPr txBox="1"/>
          <p:nvPr/>
        </p:nvSpPr>
        <p:spPr>
          <a:xfrm>
            <a:off x="4407948" y="3153945"/>
            <a:ext cx="4160497" cy="49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just">
              <a:buClr>
                <a:srgbClr val="000000"/>
              </a:buClr>
              <a:buSzPts val="1600"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rPr>
              <a:t>1. To deliver high-quality cybersecurity value-based education and enhancing the teaching-learning process for professional excellence.</a:t>
            </a:r>
            <a:endParaRPr sz="1200">
              <a:solidFill>
                <a:schemeClr val="dk1"/>
              </a:solidFill>
              <a:latin typeface="Verdana"/>
              <a:ea typeface="Verdana"/>
              <a:cs typeface="Times New Roman" panose="02020603050405020304" pitchFamily="18" charset="0"/>
              <a:sym typeface="Verdana"/>
            </a:endParaRPr>
          </a:p>
          <a:p>
            <a:pPr algn="just">
              <a:buClr>
                <a:srgbClr val="000000"/>
              </a:buClr>
              <a:buSzPts val="1600"/>
            </a:pPr>
            <a:endParaRPr sz="1200">
              <a:solidFill>
                <a:schemeClr val="dk1"/>
              </a:solidFill>
              <a:latin typeface="Verdana"/>
              <a:ea typeface="Verdana"/>
              <a:cs typeface="Times New Roman" panose="02020603050405020304" pitchFamily="18" charset="0"/>
              <a:sym typeface="Verdana"/>
            </a:endParaRPr>
          </a:p>
          <a:p>
            <a:pPr algn="just">
              <a:buClr>
                <a:srgbClr val="000000"/>
              </a:buClr>
              <a:buSzPts val="1600"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rPr>
              <a:t>2. To promote research, industry collaboration and entrepreneurship to address global challenges in cybersecurity.</a:t>
            </a:r>
            <a:endParaRPr sz="1200">
              <a:solidFill>
                <a:schemeClr val="dk1"/>
              </a:solidFill>
              <a:latin typeface="Verdana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4428327" y="1422080"/>
            <a:ext cx="4139002" cy="58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just">
              <a:buClr>
                <a:srgbClr val="000000"/>
              </a:buClr>
              <a:buSzPts val="1600"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rPr>
              <a:t>To be a globally recognized department that provides quality education in cybersecurity, promotes ethical practices, and prepares professionals to tackle real world challenges.</a:t>
            </a:r>
            <a:endParaRPr sz="1200" b="1">
              <a:solidFill>
                <a:schemeClr val="dk1"/>
              </a:solidFill>
              <a:latin typeface="Verdana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grpSp>
        <p:nvGrpSpPr>
          <p:cNvPr id="109" name="Google Shape;109;p5"/>
          <p:cNvGrpSpPr/>
          <p:nvPr/>
        </p:nvGrpSpPr>
        <p:grpSpPr>
          <a:xfrm>
            <a:off x="899593" y="2735699"/>
            <a:ext cx="1908203" cy="324621"/>
            <a:chOff x="379810" y="257523"/>
            <a:chExt cx="3038100" cy="471600"/>
          </a:xfrm>
        </p:grpSpPr>
        <p:sp>
          <p:nvSpPr>
            <p:cNvPr id="110" name="Google Shape;110;p5"/>
            <p:cNvSpPr/>
            <p:nvPr/>
          </p:nvSpPr>
          <p:spPr>
            <a:xfrm rot="5400000">
              <a:off x="1663060" y="-1025727"/>
              <a:ext cx="471600" cy="3038100"/>
            </a:xfrm>
            <a:prstGeom prst="roundRect">
              <a:avLst>
                <a:gd name="adj" fmla="val 50000"/>
              </a:avLst>
            </a:prstGeom>
            <a:solidFill>
              <a:srgbClr val="5A0886"/>
            </a:solidFill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51431" rIns="51431" bIns="51431" anchor="ctr" anchorCtr="0">
              <a:noAutofit/>
            </a:bodyPr>
            <a:lstStyle/>
            <a:p>
              <a:pPr>
                <a:buClr>
                  <a:srgbClr val="000000"/>
                </a:buClr>
                <a:buSzPts val="1600"/>
              </a:pPr>
              <a:endParaRPr sz="1200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  <p:sp>
          <p:nvSpPr>
            <p:cNvPr id="111" name="Google Shape;111;p5"/>
            <p:cNvSpPr txBox="1"/>
            <p:nvPr/>
          </p:nvSpPr>
          <p:spPr>
            <a:xfrm>
              <a:off x="680337" y="333178"/>
              <a:ext cx="2536958" cy="313831"/>
            </a:xfrm>
            <a:prstGeom prst="rect">
              <a:avLst/>
            </a:prstGeom>
            <a:solidFill>
              <a:srgbClr val="5A0886"/>
            </a:solidFill>
            <a:ln>
              <a:noFill/>
            </a:ln>
          </p:spPr>
          <p:txBody>
            <a:bodyPr spcFirstLastPara="1" wrap="square" lIns="51431" tIns="51431" rIns="51431" bIns="51431" anchor="t" anchorCtr="0">
              <a:noAutofit/>
            </a:bodyPr>
            <a:lstStyle/>
            <a:p>
              <a:pPr algn="ctr">
                <a:lnSpc>
                  <a:spcPct val="115000"/>
                </a:lnSpc>
                <a:buClr>
                  <a:srgbClr val="000000"/>
                </a:buClr>
                <a:buSzPts val="1600"/>
              </a:pPr>
              <a:r>
                <a:rPr lang="en-US" sz="1200" b="1">
                  <a:solidFill>
                    <a:srgbClr val="FFFFFF"/>
                  </a:solidFill>
                  <a:latin typeface="Verdana"/>
                  <a:ea typeface="Verdana"/>
                  <a:cs typeface="Times New Roman" panose="02020603050405020304" pitchFamily="18" charset="0"/>
                  <a:sym typeface="Verdana"/>
                </a:rPr>
                <a:t>Institute Mission</a:t>
              </a:r>
              <a:endParaRPr sz="825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</p:grpSp>
      <p:grpSp>
        <p:nvGrpSpPr>
          <p:cNvPr id="112" name="Google Shape;112;p5"/>
          <p:cNvGrpSpPr/>
          <p:nvPr/>
        </p:nvGrpSpPr>
        <p:grpSpPr>
          <a:xfrm>
            <a:off x="4463219" y="1003062"/>
            <a:ext cx="2290667" cy="324621"/>
            <a:chOff x="379810" y="257523"/>
            <a:chExt cx="3038100" cy="471600"/>
          </a:xfrm>
        </p:grpSpPr>
        <p:sp>
          <p:nvSpPr>
            <p:cNvPr id="113" name="Google Shape;113;p5"/>
            <p:cNvSpPr/>
            <p:nvPr/>
          </p:nvSpPr>
          <p:spPr>
            <a:xfrm rot="5400000">
              <a:off x="1663060" y="-1025727"/>
              <a:ext cx="471600" cy="3038100"/>
            </a:xfrm>
            <a:prstGeom prst="roundRect">
              <a:avLst>
                <a:gd name="adj" fmla="val 50000"/>
              </a:avLst>
            </a:prstGeom>
            <a:solidFill>
              <a:srgbClr val="5A0886"/>
            </a:solidFill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51431" rIns="51431" bIns="51431" anchor="ctr" anchorCtr="0">
              <a:noAutofit/>
            </a:bodyPr>
            <a:lstStyle/>
            <a:p>
              <a:pPr>
                <a:buClr>
                  <a:srgbClr val="000000"/>
                </a:buClr>
                <a:buSzPts val="1600"/>
              </a:pPr>
              <a:endParaRPr sz="1200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  <p:sp>
          <p:nvSpPr>
            <p:cNvPr id="114" name="Google Shape;114;p5"/>
            <p:cNvSpPr txBox="1"/>
            <p:nvPr/>
          </p:nvSpPr>
          <p:spPr>
            <a:xfrm>
              <a:off x="785634" y="281216"/>
              <a:ext cx="2366106" cy="443176"/>
            </a:xfrm>
            <a:prstGeom prst="rect">
              <a:avLst/>
            </a:prstGeom>
            <a:solidFill>
              <a:srgbClr val="5A0886"/>
            </a:solidFill>
            <a:ln>
              <a:noFill/>
            </a:ln>
          </p:spPr>
          <p:txBody>
            <a:bodyPr spcFirstLastPara="1" wrap="square" lIns="51431" tIns="51431" rIns="51431" bIns="51431" anchor="t" anchorCtr="0">
              <a:no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600"/>
              </a:pPr>
              <a:r>
                <a:rPr lang="en-US" sz="1200" b="1">
                  <a:solidFill>
                    <a:srgbClr val="FFFFFF"/>
                  </a:solidFill>
                  <a:latin typeface="Verdana"/>
                  <a:ea typeface="Verdana"/>
                  <a:cs typeface="Times New Roman" panose="02020603050405020304" pitchFamily="18" charset="0"/>
                  <a:sym typeface="Verdana"/>
                </a:rPr>
                <a:t>Department Vision</a:t>
              </a:r>
              <a:endParaRPr sz="825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</p:grpSp>
      <p:grpSp>
        <p:nvGrpSpPr>
          <p:cNvPr id="115" name="Google Shape;115;p5"/>
          <p:cNvGrpSpPr/>
          <p:nvPr/>
        </p:nvGrpSpPr>
        <p:grpSpPr>
          <a:xfrm>
            <a:off x="4508170" y="2731671"/>
            <a:ext cx="2290667" cy="324622"/>
            <a:chOff x="379810" y="257523"/>
            <a:chExt cx="3038100" cy="471600"/>
          </a:xfrm>
        </p:grpSpPr>
        <p:sp>
          <p:nvSpPr>
            <p:cNvPr id="116" name="Google Shape;116;p5"/>
            <p:cNvSpPr/>
            <p:nvPr/>
          </p:nvSpPr>
          <p:spPr>
            <a:xfrm rot="5400000">
              <a:off x="1663060" y="-1025727"/>
              <a:ext cx="471600" cy="3038100"/>
            </a:xfrm>
            <a:prstGeom prst="roundRect">
              <a:avLst>
                <a:gd name="adj" fmla="val 50000"/>
              </a:avLst>
            </a:prstGeom>
            <a:solidFill>
              <a:srgbClr val="5A0886"/>
            </a:solidFill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51431" rIns="51431" bIns="51431" anchor="ctr" anchorCtr="0">
              <a:noAutofit/>
            </a:bodyPr>
            <a:lstStyle/>
            <a:p>
              <a:pPr>
                <a:buClr>
                  <a:srgbClr val="000000"/>
                </a:buClr>
                <a:buSzPts val="1600"/>
              </a:pPr>
              <a:endParaRPr sz="1200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  <p:sp>
          <p:nvSpPr>
            <p:cNvPr id="117" name="Google Shape;117;p5"/>
            <p:cNvSpPr txBox="1"/>
            <p:nvPr/>
          </p:nvSpPr>
          <p:spPr>
            <a:xfrm>
              <a:off x="726018" y="287066"/>
              <a:ext cx="2460310" cy="365796"/>
            </a:xfrm>
            <a:prstGeom prst="rect">
              <a:avLst/>
            </a:prstGeom>
            <a:solidFill>
              <a:srgbClr val="5A0886"/>
            </a:solidFill>
            <a:ln>
              <a:noFill/>
            </a:ln>
          </p:spPr>
          <p:txBody>
            <a:bodyPr spcFirstLastPara="1" wrap="square" lIns="51431" tIns="51431" rIns="51431" bIns="51431" anchor="t" anchorCtr="0">
              <a:no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600"/>
              </a:pPr>
              <a:r>
                <a:rPr lang="en-US" sz="1200" b="1">
                  <a:solidFill>
                    <a:srgbClr val="FFFFFF"/>
                  </a:solidFill>
                  <a:latin typeface="Verdana"/>
                  <a:ea typeface="Verdana"/>
                  <a:cs typeface="Times New Roman" panose="02020603050405020304" pitchFamily="18" charset="0"/>
                  <a:sym typeface="Verdana"/>
                </a:rPr>
                <a:t>Department Mission</a:t>
              </a:r>
              <a:endParaRPr sz="825">
                <a:solidFill>
                  <a:schemeClr val="dk1"/>
                </a:solidFill>
                <a:latin typeface="Verdana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</p:grpSp>
      <p:sp>
        <p:nvSpPr>
          <p:cNvPr id="119" name="Google Shape;119;p5"/>
          <p:cNvSpPr txBox="1">
            <a:spLocks noGrp="1"/>
          </p:cNvSpPr>
          <p:nvPr>
            <p:ph type="ftr" idx="11"/>
          </p:nvPr>
        </p:nvSpPr>
        <p:spPr>
          <a:xfrm>
            <a:off x="2704150" y="4806152"/>
            <a:ext cx="36080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dirty="0"/>
              <a:t>Department of Cyber Security</a:t>
            </a:r>
            <a:endParaRPr dirty="0"/>
          </a:p>
        </p:txBody>
      </p:sp>
      <p:sp>
        <p:nvSpPr>
          <p:cNvPr id="120" name="Google Shape;120;p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US"/>
              <a:pPr/>
              <a:t>2</a:t>
            </a:fld>
            <a:endParaRPr/>
          </a:p>
        </p:txBody>
      </p:sp>
      <p:pic>
        <p:nvPicPr>
          <p:cNvPr id="121" name="Google Shape;121;p5" descr="A circular logo with a circle and a logo on i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2420" y="33468"/>
            <a:ext cx="735546" cy="7355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5"/>
          <p:cNvGrpSpPr/>
          <p:nvPr/>
        </p:nvGrpSpPr>
        <p:grpSpPr>
          <a:xfrm>
            <a:off x="5475" y="1665"/>
            <a:ext cx="1082876" cy="5141835"/>
            <a:chOff x="7300" y="2220"/>
            <a:chExt cx="1443834" cy="6855780"/>
          </a:xfrm>
        </p:grpSpPr>
        <p:sp>
          <p:nvSpPr>
            <p:cNvPr id="123" name="Google Shape;123;p5"/>
            <p:cNvSpPr/>
            <p:nvPr/>
          </p:nvSpPr>
          <p:spPr>
            <a:xfrm>
              <a:off x="7300" y="2220"/>
              <a:ext cx="425219" cy="6855780"/>
            </a:xfrm>
            <a:prstGeom prst="rect">
              <a:avLst/>
            </a:prstGeom>
            <a:solidFill>
              <a:srgbClr val="5A0886"/>
            </a:solidFill>
            <a:ln w="25400" cap="flat" cmpd="sng">
              <a:solidFill>
                <a:srgbClr val="5A08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4" name="Google Shape;124;p5" descr="A logo with a blue design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4957" y="183372"/>
              <a:ext cx="926177" cy="8419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11"/>
          <p:cNvGraphicFramePr/>
          <p:nvPr/>
        </p:nvGraphicFramePr>
        <p:xfrm>
          <a:off x="1007605" y="1005576"/>
          <a:ext cx="7290806" cy="271815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93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3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Index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569" marR="38569" marT="0" marB="0" anchor="ctr">
                    <a:solidFill>
                      <a:srgbClr val="5A08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Outcome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569" marR="38569" marT="0" marB="0" anchor="ctr">
                    <a:solidFill>
                      <a:srgbClr val="5A08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7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PSO1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569" marR="38569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Cybersecurity graduates will understand evolving threats and vulnerabilities in both software and hardware within the field of cybersecurity.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569" marR="3856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PSO2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569" marR="38569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Cybersecurity graduates will demonstrate the ability to ethically use tools and technologies to develop innovative solutions while balancing security, privacy, and law enforcement needs.</a:t>
                      </a:r>
                      <a:endParaRPr sz="1100" u="none" strike="noStrike" cap="none"/>
                    </a:p>
                  </a:txBody>
                  <a:tcPr marL="38569" marR="3856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516407" y="242875"/>
            <a:ext cx="4111187" cy="45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>
              <a:buClr>
                <a:srgbClr val="0800A6"/>
              </a:buClr>
              <a:buSzPts val="4267"/>
            </a:pPr>
            <a:r>
              <a:rPr lang="en-US" sz="3200" b="1">
                <a:solidFill>
                  <a:srgbClr val="0800A6"/>
                </a:solidFill>
                <a:latin typeface="Bodoni"/>
                <a:ea typeface="Bodoni"/>
                <a:cs typeface="Bodoni"/>
                <a:sym typeface="Bodoni"/>
              </a:rPr>
              <a:t> </a:t>
            </a:r>
            <a:br>
              <a:rPr lang="en-US" sz="3200" b="1">
                <a:solidFill>
                  <a:srgbClr val="0800A6"/>
                </a:solidFill>
                <a:latin typeface="Bodoni"/>
                <a:ea typeface="Bodoni"/>
                <a:cs typeface="Bodoni"/>
                <a:sym typeface="Bodoni"/>
              </a:rPr>
            </a:br>
            <a:r>
              <a:rPr lang="en-US" sz="2700" b="1">
                <a:latin typeface="Bodoni"/>
                <a:ea typeface="Bodoni"/>
                <a:cs typeface="Bodoni"/>
                <a:sym typeface="Bodoni"/>
              </a:rPr>
              <a:t>Program Specific Outcomes</a:t>
            </a:r>
            <a:br>
              <a:rPr lang="en-US" sz="3200" b="1">
                <a:solidFill>
                  <a:srgbClr val="0800A6"/>
                </a:solidFill>
                <a:latin typeface="Bodoni"/>
                <a:ea typeface="Bodoni"/>
                <a:cs typeface="Bodoni"/>
                <a:sym typeface="Bodoni"/>
              </a:rPr>
            </a:br>
            <a:endParaRPr sz="3200" b="1">
              <a:solidFill>
                <a:srgbClr val="0800A6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132" name="Google Shape;132;p1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36080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/>
              <a:t>Department of Cyber Security</a:t>
            </a:r>
            <a:endParaRPr/>
          </a:p>
        </p:txBody>
      </p:sp>
      <p:sp>
        <p:nvSpPr>
          <p:cNvPr id="133" name="Google Shape;133;p1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US"/>
              <a:pPr/>
              <a:t>3</a:t>
            </a:fld>
            <a:endParaRPr/>
          </a:p>
        </p:txBody>
      </p:sp>
      <p:pic>
        <p:nvPicPr>
          <p:cNvPr id="134" name="Google Shape;134;p11" descr="A circular logo with a circle and a logo on i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2420" y="33468"/>
            <a:ext cx="735546" cy="7355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11"/>
          <p:cNvGrpSpPr/>
          <p:nvPr/>
        </p:nvGrpSpPr>
        <p:grpSpPr>
          <a:xfrm>
            <a:off x="5475" y="1665"/>
            <a:ext cx="1082876" cy="5141835"/>
            <a:chOff x="7300" y="2220"/>
            <a:chExt cx="1443834" cy="6855780"/>
          </a:xfrm>
        </p:grpSpPr>
        <p:sp>
          <p:nvSpPr>
            <p:cNvPr id="136" name="Google Shape;136;p11"/>
            <p:cNvSpPr/>
            <p:nvPr/>
          </p:nvSpPr>
          <p:spPr>
            <a:xfrm>
              <a:off x="7300" y="2220"/>
              <a:ext cx="425219" cy="6855780"/>
            </a:xfrm>
            <a:prstGeom prst="rect">
              <a:avLst/>
            </a:prstGeom>
            <a:solidFill>
              <a:srgbClr val="5A0886"/>
            </a:solidFill>
            <a:ln w="25400" cap="flat" cmpd="sng">
              <a:solidFill>
                <a:srgbClr val="5A08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7" name="Google Shape;137;p11" descr="A logo with a blue design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4957" y="183372"/>
              <a:ext cx="926177" cy="8419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>
            <a:spLocks noGrp="1"/>
          </p:cNvSpPr>
          <p:nvPr>
            <p:ph type="title"/>
          </p:nvPr>
        </p:nvSpPr>
        <p:spPr>
          <a:xfrm>
            <a:off x="1726987" y="216322"/>
            <a:ext cx="5690025" cy="74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3600"/>
            </a:pPr>
            <a:r>
              <a:rPr lang="en-US" sz="2700" b="1" dirty="0">
                <a:latin typeface="Times New Roman" panose="02020603050405020304" pitchFamily="18" charset="0"/>
                <a:ea typeface="Bodoni"/>
                <a:cs typeface="Times New Roman" panose="02020603050405020304" pitchFamily="18" charset="0"/>
                <a:sym typeface="Bodoni"/>
              </a:rPr>
              <a:t>Outline</a:t>
            </a:r>
            <a:endParaRPr sz="2700" b="1" dirty="0">
              <a:latin typeface="Times New Roman" panose="02020603050405020304" pitchFamily="18" charset="0"/>
              <a:ea typeface="Bodoni"/>
              <a:cs typeface="Times New Roman" panose="02020603050405020304" pitchFamily="18" charset="0"/>
              <a:sym typeface="Bodoni"/>
            </a:endParaRPr>
          </a:p>
        </p:txBody>
      </p:sp>
      <p:sp>
        <p:nvSpPr>
          <p:cNvPr id="143" name="Google Shape;143;p2"/>
          <p:cNvSpPr txBox="1">
            <a:spLocks noGrp="1"/>
          </p:cNvSpPr>
          <p:nvPr>
            <p:ph type="body" idx="1"/>
          </p:nvPr>
        </p:nvSpPr>
        <p:spPr>
          <a:xfrm>
            <a:off x="1490677" y="1158529"/>
            <a:ext cx="4931225" cy="339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Prepare an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8–10 slide PowerPoint presentation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covering: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Title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Problem Statement 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Background 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Working Principle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Architecture / Diagram 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Demonstration 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Real-Time Application 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SDG Mapping 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Conclusion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5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References 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28600">
              <a:lnSpc>
                <a:spcPct val="150000"/>
              </a:lnSpc>
              <a:spcBef>
                <a:spcPts val="180"/>
              </a:spcBef>
              <a:buSzPts val="1500"/>
              <a:buFont typeface="Times New Roman"/>
              <a:buChar char="❖"/>
            </a:pPr>
            <a:endParaRPr lang="en-US" sz="12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5" name="Google Shape;145;p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360804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/>
              <a:t>Department of Cyber Security</a:t>
            </a:r>
            <a:endParaRPr/>
          </a:p>
        </p:txBody>
      </p:sp>
      <p:sp>
        <p:nvSpPr>
          <p:cNvPr id="146" name="Google Shape;146;p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US"/>
              <a:pPr/>
              <a:t>4</a:t>
            </a:fld>
            <a:endParaRPr/>
          </a:p>
        </p:txBody>
      </p:sp>
      <p:pic>
        <p:nvPicPr>
          <p:cNvPr id="147" name="Google Shape;147;p2" descr="A circular logo with a circle and a logo on i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2420" y="33468"/>
            <a:ext cx="735546" cy="7355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2"/>
          <p:cNvGrpSpPr/>
          <p:nvPr/>
        </p:nvGrpSpPr>
        <p:grpSpPr>
          <a:xfrm>
            <a:off x="5475" y="1665"/>
            <a:ext cx="1082876" cy="5141835"/>
            <a:chOff x="7300" y="2220"/>
            <a:chExt cx="1443834" cy="6855780"/>
          </a:xfrm>
        </p:grpSpPr>
        <p:sp>
          <p:nvSpPr>
            <p:cNvPr id="149" name="Google Shape;149;p2"/>
            <p:cNvSpPr/>
            <p:nvPr/>
          </p:nvSpPr>
          <p:spPr>
            <a:xfrm>
              <a:off x="7300" y="2220"/>
              <a:ext cx="425219" cy="6855780"/>
            </a:xfrm>
            <a:prstGeom prst="rect">
              <a:avLst/>
            </a:prstGeom>
            <a:solidFill>
              <a:srgbClr val="5A0886"/>
            </a:solidFill>
            <a:ln w="25400" cap="flat" cmpd="sng">
              <a:solidFill>
                <a:srgbClr val="5A08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0" name="Google Shape;150;p2" descr="A logo with a blue design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4957" y="183372"/>
              <a:ext cx="926177" cy="8419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Gelasio SemiBold" pitchFamily="34" charset="-120"/>
              </a:rPr>
              <a:t>Multilayer Switches in Data Centers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 High-Speed Solution for Inter-VLAN Routing and Network Performance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8" y="3180978"/>
            <a:ext cx="1858119" cy="266402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23468"/>
            <a:ext cx="17730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COMPUTER NETWORKS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1935" y="3180978"/>
            <a:ext cx="1455241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D3C5B6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09555" y="3223468"/>
            <a:ext cx="17423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3C5B6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CISCO PACKET TRACER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150;p2" descr="A logo with a blue design&#10;&#10;AI-generated content may be incorrect.">
            <a:extLst>
              <a:ext uri="{FF2B5EF4-FFF2-40B4-BE49-F238E27FC236}">
                <a16:creationId xmlns:a16="http://schemas.microsoft.com/office/drawing/2014/main" id="{70CA468C-E218-3CDA-F917-DC5706C7F4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669" y="88292"/>
            <a:ext cx="694633" cy="63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2;p1" descr="A circular logo with a circle and a logo on it&#10;&#10;AI-generated content may be incorrect.">
            <a:extLst>
              <a:ext uri="{FF2B5EF4-FFF2-40B4-BE49-F238E27FC236}">
                <a16:creationId xmlns:a16="http://schemas.microsoft.com/office/drawing/2014/main" id="{45BE8DBF-24E6-7B7E-7A49-A8C72F24F66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FFD5B7-653D-7904-03EE-992663FCA112}"/>
              </a:ext>
            </a:extLst>
          </p:cNvPr>
          <p:cNvSpPr txBox="1"/>
          <p:nvPr/>
        </p:nvSpPr>
        <p:spPr>
          <a:xfrm>
            <a:off x="3866037" y="3676932"/>
            <a:ext cx="1976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84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by Stuti Shah</a:t>
            </a:r>
          </a:p>
          <a:p>
            <a:r>
              <a:rPr lang="en-US" sz="1400" dirty="0">
                <a:solidFill>
                  <a:srgbClr val="484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SYCS_53</a:t>
            </a:r>
          </a:p>
          <a:p>
            <a:r>
              <a:rPr lang="en-US" sz="1400" dirty="0">
                <a:solidFill>
                  <a:srgbClr val="4842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PRN: 125BTCS1057</a:t>
            </a:r>
            <a:endParaRPr lang="en-IN" sz="1400" dirty="0">
              <a:solidFill>
                <a:srgbClr val="4842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7147"/>
            <a:ext cx="5057552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Gelasio SemiBold" pitchFamily="34" charset="-120"/>
              </a:rPr>
              <a:t>The Problem We're Solving</a:t>
            </a:r>
            <a:endParaRPr lang="en-US" sz="2700" dirty="0">
              <a:latin typeface="Bodoni MT" panose="020706030806060202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20" y="1417960"/>
            <a:ext cx="4863672" cy="2760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00747" y="1203424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84237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The Challenge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00746" y="1477886"/>
            <a:ext cx="3084527" cy="15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Modern data centers require high-speed communication between multiple departments while maintaining security and scalability. Traditional Layer 2 switches </a:t>
            </a:r>
            <a:r>
              <a:rPr lang="en-US" sz="1200" b="1" dirty="0">
                <a:solidFill>
                  <a:srgbClr val="746558"/>
                </a:solidFill>
                <a:latin typeface="Times New Roman" panose="02020603050405020304" pitchFamily="18" charset="0"/>
                <a:ea typeface="Gelasio Bold" pitchFamily="34" charset="-122"/>
                <a:cs typeface="Times New Roman" panose="02020603050405020304" pitchFamily="18" charset="0"/>
              </a:rPr>
              <a:t>cannot route traffic between VLANs</a:t>
            </a: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, and deploying separate routers introduces cost, complexity, and latency.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00746" y="3231742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84237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Project Objective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00747" y="3522985"/>
            <a:ext cx="3014188" cy="1337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Design, analyze, and demonstrate a multilayer switching solution that delivers efficient </a:t>
            </a:r>
            <a:r>
              <a:rPr lang="en-US" sz="1200" b="1" dirty="0">
                <a:solidFill>
                  <a:srgbClr val="746558"/>
                </a:solidFill>
                <a:latin typeface="Times New Roman" panose="02020603050405020304" pitchFamily="18" charset="0"/>
                <a:ea typeface="Gelasio Bold" pitchFamily="34" charset="-122"/>
                <a:cs typeface="Times New Roman" panose="02020603050405020304" pitchFamily="18" charset="0"/>
              </a:rPr>
              <a:t>Inter-VLAN Routing</a:t>
            </a: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with improved performance, scalability, and security — all within a single device.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150;p2" descr="A logo with a blue design&#10;&#10;AI-generated content may be incorrect.">
            <a:extLst>
              <a:ext uri="{FF2B5EF4-FFF2-40B4-BE49-F238E27FC236}">
                <a16:creationId xmlns:a16="http://schemas.microsoft.com/office/drawing/2014/main" id="{FFF969DE-FB8B-019F-020C-88F16F92C9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802" y="199507"/>
            <a:ext cx="694633" cy="63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2;p1" descr="A circular logo with a circle and a logo on it&#10;&#10;AI-generated content may be incorrect.">
            <a:extLst>
              <a:ext uri="{FF2B5EF4-FFF2-40B4-BE49-F238E27FC236}">
                <a16:creationId xmlns:a16="http://schemas.microsoft.com/office/drawing/2014/main" id="{5050A65C-194A-85DB-ACEA-3E0BA0D1667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939" y="674935"/>
            <a:ext cx="5161508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Gelasio SemiBold" pitchFamily="34" charset="-120"/>
              </a:rPr>
              <a:t>What Is a Multilayer Switch?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144487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 multilayer switch combines Layer 2 and Layer 3 functionality in one device — eliminating the need for a separate router in many enterprise scenarios.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634282"/>
            <a:ext cx="4013597" cy="1483444"/>
          </a:xfrm>
          <a:prstGeom prst="roundRect">
            <a:avLst>
              <a:gd name="adj" fmla="val 1344"/>
            </a:avLst>
          </a:prstGeom>
          <a:solidFill>
            <a:srgbClr val="EEE8DD"/>
          </a:solidFill>
          <a:ln/>
        </p:spPr>
      </p:sp>
      <p:sp>
        <p:nvSpPr>
          <p:cNvPr id="5" name="Shape 3"/>
          <p:cNvSpPr/>
          <p:nvPr/>
        </p:nvSpPr>
        <p:spPr>
          <a:xfrm>
            <a:off x="629022" y="1767185"/>
            <a:ext cx="398711" cy="398711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634" y="1876797"/>
            <a:ext cx="179412" cy="1794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9022" y="229046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Layer 2 Switching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9022" y="2572866"/>
            <a:ext cx="374779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Forwards frames based on MAC addresses within the same VLAN.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34285" y="1634282"/>
            <a:ext cx="4013597" cy="1483444"/>
          </a:xfrm>
          <a:prstGeom prst="roundRect">
            <a:avLst>
              <a:gd name="adj" fmla="val 1344"/>
            </a:avLst>
          </a:prstGeom>
          <a:solidFill>
            <a:srgbClr val="EEE8DD"/>
          </a:solidFill>
          <a:ln/>
        </p:spPr>
      </p:sp>
      <p:sp>
        <p:nvSpPr>
          <p:cNvPr id="10" name="Shape 7"/>
          <p:cNvSpPr/>
          <p:nvPr/>
        </p:nvSpPr>
        <p:spPr>
          <a:xfrm>
            <a:off x="4767188" y="1767185"/>
            <a:ext cx="398711" cy="398711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6800" y="1876797"/>
            <a:ext cx="179412" cy="1794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7188" y="229046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Layer 3 Routing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767188" y="2572866"/>
            <a:ext cx="3747790" cy="463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Routes packets using IP addresses across different 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VLANs.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96119" y="3242295"/>
            <a:ext cx="4013597" cy="1483444"/>
          </a:xfrm>
          <a:prstGeom prst="roundRect">
            <a:avLst>
              <a:gd name="adj" fmla="val 1344"/>
            </a:avLst>
          </a:prstGeom>
          <a:solidFill>
            <a:srgbClr val="EEE8DD"/>
          </a:solidFill>
          <a:ln/>
        </p:spPr>
      </p:sp>
      <p:sp>
        <p:nvSpPr>
          <p:cNvPr id="15" name="Shape 11"/>
          <p:cNvSpPr/>
          <p:nvPr/>
        </p:nvSpPr>
        <p:spPr>
          <a:xfrm>
            <a:off x="629022" y="3375199"/>
            <a:ext cx="398711" cy="398711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634" y="3484811"/>
            <a:ext cx="179412" cy="1794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022" y="3898478"/>
            <a:ext cx="166486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Inter-VLAN Routing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9022" y="4180880"/>
            <a:ext cx="374779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Enables communication between VLANs without an external router.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34285" y="3242295"/>
            <a:ext cx="4013597" cy="1483444"/>
          </a:xfrm>
          <a:prstGeom prst="roundRect">
            <a:avLst>
              <a:gd name="adj" fmla="val 1344"/>
            </a:avLst>
          </a:prstGeom>
          <a:solidFill>
            <a:srgbClr val="EEE8DD"/>
          </a:solidFill>
          <a:ln/>
        </p:spPr>
      </p:sp>
      <p:sp>
        <p:nvSpPr>
          <p:cNvPr id="20" name="Shape 15"/>
          <p:cNvSpPr/>
          <p:nvPr/>
        </p:nvSpPr>
        <p:spPr>
          <a:xfrm>
            <a:off x="4767188" y="3375199"/>
            <a:ext cx="398711" cy="398711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6800" y="3484811"/>
            <a:ext cx="179412" cy="1794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67188" y="389847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Hardware-Based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767188" y="4180880"/>
            <a:ext cx="374779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ASIC-based forwarding delivers wire-speed performance.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Google Shape;150;p2" descr="A logo with a blue design&#10;&#10;AI-generated content may be incorrect.">
            <a:extLst>
              <a:ext uri="{FF2B5EF4-FFF2-40B4-BE49-F238E27FC236}">
                <a16:creationId xmlns:a16="http://schemas.microsoft.com/office/drawing/2014/main" id="{A25C28D3-188C-7310-7BC0-F42E29A7BC6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889" y="172248"/>
            <a:ext cx="583745" cy="510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92;p1" descr="A circular logo with a circle and a logo on it&#10;&#10;AI-generated content may be incorrect.">
            <a:extLst>
              <a:ext uri="{FF2B5EF4-FFF2-40B4-BE49-F238E27FC236}">
                <a16:creationId xmlns:a16="http://schemas.microsoft.com/office/drawing/2014/main" id="{CE7BE4A0-B130-7A1F-2F8F-24B42CB7869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559" y="769923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Gelasio SemiBold" pitchFamily="34" charset="-120"/>
              </a:rPr>
              <a:t>Working Principle</a:t>
            </a:r>
            <a:endParaRPr lang="en-US" sz="2500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6796" y="1187466"/>
            <a:ext cx="8608963" cy="458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When a packet arrives, the multilayer switch inspects both the MAC and IP addresses to determine whether to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switch or route.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612848"/>
            <a:ext cx="6339185" cy="29012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77230" y="3547657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Forward to VLAN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91998" y="3547658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Layer 3 Route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327636" y="3547659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Inspect MAC &amp; IP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97497" y="3547659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Device Sends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6119" y="4363120"/>
            <a:ext cx="8151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If the destination is local, the frame is switched at Layer 2. If it belongs to another VLAN, the switch routes it through the appropriate </a:t>
            </a:r>
            <a:r>
              <a:rPr lang="en-US" sz="1400" b="1" dirty="0">
                <a:solidFill>
                  <a:srgbClr val="746558"/>
                </a:solidFill>
                <a:latin typeface="Times New Roman" panose="02020603050405020304" pitchFamily="18" charset="0"/>
                <a:ea typeface="Gelasio Bold" pitchFamily="34" charset="-122"/>
                <a:cs typeface="Times New Roman" panose="02020603050405020304" pitchFamily="18" charset="0"/>
              </a:rPr>
              <a:t>Switch Virtual Interface (SVI)</a:t>
            </a: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oogle Shape;150;p2" descr="A logo with a blue design&#10;&#10;AI-generated content may be incorrect.">
            <a:extLst>
              <a:ext uri="{FF2B5EF4-FFF2-40B4-BE49-F238E27FC236}">
                <a16:creationId xmlns:a16="http://schemas.microsoft.com/office/drawing/2014/main" id="{9F364C7B-2BB0-4B03-D7CD-9D66C03A14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802" y="199507"/>
            <a:ext cx="694633" cy="63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92;p1" descr="A circular logo with a circle and a logo on it&#10;&#10;AI-generated content may be incorrect.">
            <a:extLst>
              <a:ext uri="{FF2B5EF4-FFF2-40B4-BE49-F238E27FC236}">
                <a16:creationId xmlns:a16="http://schemas.microsoft.com/office/drawing/2014/main" id="{6DCAC3CA-EDBC-C813-E344-49A64A8DC0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63" y="693772"/>
            <a:ext cx="4312199" cy="431219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65286" y="435918"/>
            <a:ext cx="3397974" cy="4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Gelasio SemiBold" pitchFamily="34" charset="-120"/>
              </a:rPr>
              <a:t>Network Architecture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482851" y="1317363"/>
            <a:ext cx="2607265" cy="307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84237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Cisco 3560 Multilayer Switch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482852" y="1771297"/>
            <a:ext cx="4133404" cy="533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The switch acts as the central routing and switching hub. Each VLAN has a dedicated </a:t>
            </a:r>
            <a:r>
              <a:rPr lang="en-US" sz="1200" b="1" dirty="0">
                <a:solidFill>
                  <a:srgbClr val="746558"/>
                </a:solidFill>
                <a:latin typeface="Times New Roman" panose="02020603050405020304" pitchFamily="18" charset="0"/>
                <a:ea typeface="Gelasio Bold" pitchFamily="34" charset="-122"/>
                <a:cs typeface="Times New Roman" panose="02020603050405020304" pitchFamily="18" charset="0"/>
              </a:rPr>
              <a:t>Switch Virtual Interface (SVI)</a:t>
            </a: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that serves as the default gateway for all devices in that VLAN.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82852" y="2523808"/>
            <a:ext cx="3986733" cy="533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Times New Roman" panose="02020603050405020304" pitchFamily="18" charset="0"/>
                <a:ea typeface="Gelasio Bold" pitchFamily="34" charset="-122"/>
                <a:cs typeface="Times New Roman" panose="02020603050405020304" pitchFamily="18" charset="0"/>
              </a:rPr>
              <a:t>VLAN 10</a:t>
            </a: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— PC1 (192.168.10.10), Gateway: 192.168.10.1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Times New Roman" panose="02020603050405020304" pitchFamily="18" charset="0"/>
                <a:ea typeface="Gelasio Bold" pitchFamily="34" charset="-122"/>
                <a:cs typeface="Times New Roman" panose="02020603050405020304" pitchFamily="18" charset="0"/>
              </a:rPr>
              <a:t>VLAN 20</a:t>
            </a: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— PC2 (192.168.20.10), Gateway: 192.168.20.1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Times New Roman" panose="02020603050405020304" pitchFamily="18" charset="0"/>
                <a:ea typeface="Gelasio Bold" pitchFamily="34" charset="-122"/>
                <a:cs typeface="Times New Roman" panose="02020603050405020304" pitchFamily="18" charset="0"/>
              </a:rPr>
              <a:t>VLAN 30</a:t>
            </a: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— Server (192.168.30.10), Gateway: 192.168.30.1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482852" y="3356230"/>
            <a:ext cx="4133404" cy="483719"/>
          </a:xfrm>
          <a:prstGeom prst="roundRect">
            <a:avLst>
              <a:gd name="adj" fmla="val 5478"/>
            </a:avLst>
          </a:prstGeom>
          <a:solidFill>
            <a:srgbClr val="ECE6D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062" y="3414679"/>
            <a:ext cx="180341" cy="1443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42158" y="3431030"/>
            <a:ext cx="4133404" cy="40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IP Routing must be explicitly enabled on the switch for 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Inter-VLAN communication.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oogle Shape;150;p2" descr="A logo with a blue design&#10;&#10;AI-generated content may be incorrect.">
            <a:extLst>
              <a:ext uri="{FF2B5EF4-FFF2-40B4-BE49-F238E27FC236}">
                <a16:creationId xmlns:a16="http://schemas.microsoft.com/office/drawing/2014/main" id="{3DF34F97-6F1F-B928-DA7A-771287EA532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802" y="137529"/>
            <a:ext cx="694633" cy="63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92;p1" descr="A circular logo with a circle and a logo on it&#10;&#10;AI-generated content may be incorrect.">
            <a:extLst>
              <a:ext uri="{FF2B5EF4-FFF2-40B4-BE49-F238E27FC236}">
                <a16:creationId xmlns:a16="http://schemas.microsoft.com/office/drawing/2014/main" id="{BAAEB4DB-2682-1DA3-2A61-9144667C8C8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870830"/>
            <a:ext cx="47464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Gelasio SemiBold" pitchFamily="34" charset="-120"/>
              </a:rPr>
              <a:t>Practical Demonstration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47369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Using </a:t>
            </a:r>
            <a:r>
              <a:rPr lang="en-US" sz="1500" b="1" dirty="0">
                <a:solidFill>
                  <a:srgbClr val="746558"/>
                </a:solidFill>
                <a:latin typeface="Times New Roman" panose="02020603050405020304" pitchFamily="18" charset="0"/>
                <a:ea typeface="Gelasio Bold" pitchFamily="34" charset="-122"/>
                <a:cs typeface="Times New Roman" panose="02020603050405020304" pitchFamily="18" charset="0"/>
              </a:rPr>
              <a:t>Cisco Packet Tracer</a:t>
            </a:r>
            <a:r>
              <a:rPr lang="en-US" sz="15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, the following configuration was implemented and verified step by step.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8599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46558"/>
                </a:solidFill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01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96119" y="2081882"/>
            <a:ext cx="2622724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190824"/>
            <a:ext cx="24947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Create VLANs 10, 20, and 30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6119" y="2497336"/>
            <a:ext cx="2622724" cy="413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Defined VLANs on the Cisco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3560 switch.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0601" y="18599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46558"/>
                </a:solidFill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02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60601" y="2081882"/>
            <a:ext cx="2622724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0" name="Text 8"/>
          <p:cNvSpPr/>
          <p:nvPr/>
        </p:nvSpPr>
        <p:spPr>
          <a:xfrm>
            <a:off x="3260601" y="21908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Assign Switch Ports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60601" y="2497335"/>
            <a:ext cx="2622724" cy="42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Assigned access ports to each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VLAN.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25083" y="18599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46558"/>
                </a:solidFill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03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25083" y="2081882"/>
            <a:ext cx="2622724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083" y="21908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Configure SVIs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25083" y="2497336"/>
            <a:ext cx="2622724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Created Switch Virtual Interfaces with IP addresses as default gateways.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6119" y="31989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46558"/>
                </a:solidFill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04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96119" y="3420889"/>
            <a:ext cx="4004965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529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Enable IP Routing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6119" y="3836343"/>
            <a:ext cx="400496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Activated Layer 3 routing with </a:t>
            </a:r>
            <a:r>
              <a:rPr lang="en-US" sz="1400" dirty="0">
                <a:solidFill>
                  <a:srgbClr val="746558"/>
                </a:solidFill>
                <a:highlight>
                  <a:srgbClr val="ECE9E3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ip routing</a:t>
            </a: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42842" y="31989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46558"/>
                </a:solidFill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05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42842" y="3420889"/>
            <a:ext cx="4004965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2" name="Text 20"/>
          <p:cNvSpPr/>
          <p:nvPr/>
        </p:nvSpPr>
        <p:spPr>
          <a:xfrm>
            <a:off x="4642842" y="3529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Verify with Ping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42842" y="3836343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Confirmed successful Inter-VLAN communication between all devices.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Google Shape;150;p2" descr="A logo with a blue design&#10;&#10;AI-generated content may be incorrect.">
            <a:extLst>
              <a:ext uri="{FF2B5EF4-FFF2-40B4-BE49-F238E27FC236}">
                <a16:creationId xmlns:a16="http://schemas.microsoft.com/office/drawing/2014/main" id="{09AFC97F-4B6E-EC40-4CEF-E58C2BEA47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802" y="147932"/>
            <a:ext cx="694633" cy="63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92;p1" descr="A circular logo with a circle and a logo on it&#10;&#10;AI-generated content may be incorrect.">
            <a:extLst>
              <a:ext uri="{FF2B5EF4-FFF2-40B4-BE49-F238E27FC236}">
                <a16:creationId xmlns:a16="http://schemas.microsoft.com/office/drawing/2014/main" id="{2869D758-F82C-CCA2-33C0-37F5078D88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020" y="987958"/>
            <a:ext cx="477098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Gelasio SemiBold" pitchFamily="34" charset="-120"/>
              </a:rPr>
              <a:t>Real-World Applications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8906" y="153830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Multilayer switches are deployed wherever high-performance, segmented networking is required.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7" y="2093937"/>
            <a:ext cx="1899227" cy="11737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5887" y="3350680"/>
            <a:ext cx="18172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Enterprise Networks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7" y="3649154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Connect departments securely while maintaining performance.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093937"/>
            <a:ext cx="1899228" cy="1173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95842" y="33614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Data Centers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572452" y="3649154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Route traffic between server VLANs at wire speed.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2" y="2093937"/>
            <a:ext cx="1899228" cy="11737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78096" y="3350680"/>
            <a:ext cx="1905074" cy="24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Campus &amp; Universities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678096" y="3646478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Segment academic, administrative, and guest networks.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093937"/>
            <a:ext cx="1899228" cy="11737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807" y="33478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Hospitals &amp; Cloud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742807" y="3649154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Isolate critical systems and support cloud infrastructure</a:t>
            </a:r>
            <a:r>
              <a:rPr lang="en-US" sz="11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Google Shape;150;p2" descr="A logo with a blue design&#10;&#10;AI-generated content may be incorrect.">
            <a:extLst>
              <a:ext uri="{FF2B5EF4-FFF2-40B4-BE49-F238E27FC236}">
                <a16:creationId xmlns:a16="http://schemas.microsoft.com/office/drawing/2014/main" id="{81FF34AC-C855-F6E1-F7A3-7535AD23A8C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8802" y="190195"/>
            <a:ext cx="694633" cy="63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92;p1" descr="A circular logo with a circle and a logo on it&#10;&#10;AI-generated content may be incorrect.">
            <a:extLst>
              <a:ext uri="{FF2B5EF4-FFF2-40B4-BE49-F238E27FC236}">
                <a16:creationId xmlns:a16="http://schemas.microsoft.com/office/drawing/2014/main" id="{0E709281-7A0D-A86E-D95D-C61A19EC6DA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288" y="493679"/>
            <a:ext cx="4369957" cy="436995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38978" y="931148"/>
            <a:ext cx="4743004" cy="1034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Gelasio SemiBold" pitchFamily="34" charset="-120"/>
              </a:rPr>
              <a:t>Alignment with Sustainable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Gelasio SemiBold" pitchFamily="34" charset="-120"/>
              </a:rPr>
              <a:t>Development Goals (SDG)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0121" y="2538512"/>
            <a:ext cx="1370930" cy="22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84237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Why This Matters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4885" y="2874567"/>
            <a:ext cx="3986733" cy="9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This project connects networking education and practice to broader global goals — demonstrating that technical solutions can drive social and economic progress.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150;p2" descr="A logo with a blue design&#10;&#10;AI-generated content may be incorrect.">
            <a:extLst>
              <a:ext uri="{FF2B5EF4-FFF2-40B4-BE49-F238E27FC236}">
                <a16:creationId xmlns:a16="http://schemas.microsoft.com/office/drawing/2014/main" id="{77600975-B276-323F-E0ED-DDC5206D10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039" y="192058"/>
            <a:ext cx="694633" cy="63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2;p1" descr="A circular logo with a circle and a logo on it&#10;&#10;AI-generated content may be incorrect.">
            <a:extLst>
              <a:ext uri="{FF2B5EF4-FFF2-40B4-BE49-F238E27FC236}">
                <a16:creationId xmlns:a16="http://schemas.microsoft.com/office/drawing/2014/main" id="{3B8273BB-40CF-7B53-9A59-CC2F4C6F7C5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2151"/>
            <a:ext cx="34476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Times New Roman" panose="02020603050405020304" pitchFamily="18" charset="0"/>
              </a:rPr>
              <a:t>Conclusion</a:t>
            </a:r>
            <a:endParaRPr lang="en-US" sz="3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947291"/>
            <a:ext cx="4722763" cy="8678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6139" y="1038704"/>
            <a:ext cx="157497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Unified Functionality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116139" y="1286056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Combines Layer 2 switching and Layer 3 routing in a single device — no external router required.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916013"/>
            <a:ext cx="4722763" cy="8678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6139" y="2009199"/>
            <a:ext cx="239896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High-Speed Inter-VLAN Routing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4116139" y="2276161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Hardware-based routing dramatically reduces latency compared to router-on-a-stick designs.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884736"/>
            <a:ext cx="4722763" cy="8678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16139" y="297819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Scalable &amp; Secure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116139" y="3234839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VLAN segmentation with SVI-based routing supports growing enterprise and data center environments.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853458"/>
            <a:ext cx="4722763" cy="8678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16139" y="3937665"/>
            <a:ext cx="156381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Proven in Simulation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4116139" y="4208726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Cisco Packet Tracer successfully demonstrated end-to-end Inter-VLAN communication across three VLANs.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Google Shape;150;p2" descr="A logo with a blue design&#10;&#10;AI-generated content may be incorrect.">
            <a:extLst>
              <a:ext uri="{FF2B5EF4-FFF2-40B4-BE49-F238E27FC236}">
                <a16:creationId xmlns:a16="http://schemas.microsoft.com/office/drawing/2014/main" id="{4AA2461D-CBE2-EFAE-467C-1AACDEF95F8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331" y="106408"/>
            <a:ext cx="694633" cy="63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92;p1" descr="A circular logo with a circle and a logo on it&#10;&#10;AI-generated content may be incorrect.">
            <a:extLst>
              <a:ext uri="{FF2B5EF4-FFF2-40B4-BE49-F238E27FC236}">
                <a16:creationId xmlns:a16="http://schemas.microsoft.com/office/drawing/2014/main" id="{62E5D557-C87F-2D09-8490-375FA942DBB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435" y="371699"/>
            <a:ext cx="305990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484237"/>
                </a:solidFill>
                <a:latin typeface="Bodoni MT" panose="02070603080606020203" pitchFamily="18" charset="0"/>
                <a:ea typeface="Gelasio SemiBold" pitchFamily="34" charset="-122"/>
                <a:cs typeface="Gelasio SemiBold" pitchFamily="34" charset="-120"/>
              </a:rPr>
              <a:t>References</a:t>
            </a:r>
            <a:endParaRPr lang="en-US" sz="2800" dirty="0">
              <a:latin typeface="Bodoni MT" panose="020706030806060202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882625"/>
            <a:ext cx="8151763" cy="62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556" y="1097310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1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03250" y="1001018"/>
            <a:ext cx="1749326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Cisco Networking Academy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03250" y="1209526"/>
            <a:ext cx="752623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Switching, Routing and Wireless Essentials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83680"/>
            <a:ext cx="8151763" cy="6246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556" y="1798365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2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03250" y="1702073"/>
            <a:ext cx="1658392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Cisco Catalyst 3560 Guide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03250" y="1910581"/>
            <a:ext cx="752623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Official Configuration Guide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84735"/>
            <a:ext cx="8151763" cy="6246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556" y="2499420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3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003250" y="240312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Cisco Packet Tracer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003250" y="2611636"/>
            <a:ext cx="752623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User Guide and Simulation Platform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985790"/>
            <a:ext cx="8151763" cy="6246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556" y="3200474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4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003250" y="3104183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Kurose &amp; Ross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003250" y="3312691"/>
            <a:ext cx="752623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Computer Networking: A Top-Down Approach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686845"/>
            <a:ext cx="8151763" cy="6246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556" y="3901529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5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1003250" y="3805238"/>
            <a:ext cx="154327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46558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Cisco Learning Network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1003250" y="4013746"/>
            <a:ext cx="752623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VLANs and Inter-VLAN Routing Resources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496119" y="4423618"/>
            <a:ext cx="8151763" cy="519233"/>
          </a:xfrm>
          <a:prstGeom prst="roundRect">
            <a:avLst>
              <a:gd name="adj" fmla="val 4572"/>
            </a:avLst>
          </a:prstGeom>
          <a:solidFill>
            <a:srgbClr val="ECE6DF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23" y="4536356"/>
            <a:ext cx="196453" cy="15722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34405" y="4499818"/>
            <a:ext cx="8166571" cy="416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All configurations and demonstrations were validated using Cisco Packet Tracer in alignment with Cisco 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Networking Academy curriculum standards.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Google Shape;150;p2" descr="A logo with a blue design&#10;&#10;AI-generated content may be incorrect.">
            <a:extLst>
              <a:ext uri="{FF2B5EF4-FFF2-40B4-BE49-F238E27FC236}">
                <a16:creationId xmlns:a16="http://schemas.microsoft.com/office/drawing/2014/main" id="{36143B91-7130-36FA-1234-DB1AD033B77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802" y="88697"/>
            <a:ext cx="694633" cy="63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92;p1" descr="A circular logo with a circle and a logo on it&#10;&#10;AI-generated content may be incorrect.">
            <a:extLst>
              <a:ext uri="{FF2B5EF4-FFF2-40B4-BE49-F238E27FC236}">
                <a16:creationId xmlns:a16="http://schemas.microsoft.com/office/drawing/2014/main" id="{556F0E34-AD1C-84A9-B153-2C4F5FD7F38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37801" y="147477"/>
            <a:ext cx="735546" cy="73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>
            <a:spLocks noGrp="1"/>
          </p:cNvSpPr>
          <p:nvPr>
            <p:ph type="body" idx="1"/>
          </p:nvPr>
        </p:nvSpPr>
        <p:spPr>
          <a:xfrm flipH="1">
            <a:off x="9556895" y="2518245"/>
            <a:ext cx="31891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6600"/>
              <a:buNone/>
            </a:pPr>
            <a:r>
              <a:rPr lang="en-US" sz="4950"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/>
          </a:p>
        </p:txBody>
      </p:sp>
      <p:pic>
        <p:nvPicPr>
          <p:cNvPr id="169" name="Google Shape;169;p34" descr="A circular logo with a circle and a logo on i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8013" y="102392"/>
            <a:ext cx="735546" cy="7355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34"/>
          <p:cNvGrpSpPr/>
          <p:nvPr/>
        </p:nvGrpSpPr>
        <p:grpSpPr>
          <a:xfrm>
            <a:off x="5475" y="1665"/>
            <a:ext cx="1082876" cy="5141835"/>
            <a:chOff x="7300" y="2220"/>
            <a:chExt cx="1443834" cy="6855780"/>
          </a:xfrm>
        </p:grpSpPr>
        <p:sp>
          <p:nvSpPr>
            <p:cNvPr id="171" name="Google Shape;171;p34"/>
            <p:cNvSpPr/>
            <p:nvPr/>
          </p:nvSpPr>
          <p:spPr>
            <a:xfrm>
              <a:off x="7300" y="2220"/>
              <a:ext cx="425219" cy="6855780"/>
            </a:xfrm>
            <a:prstGeom prst="rect">
              <a:avLst/>
            </a:prstGeom>
            <a:solidFill>
              <a:srgbClr val="5A0886"/>
            </a:solidFill>
            <a:ln w="25400" cap="flat" cmpd="sng">
              <a:solidFill>
                <a:srgbClr val="5A08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2" name="Google Shape;172;p34" descr="A logo with a blue design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4957" y="183372"/>
              <a:ext cx="926177" cy="841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34"/>
          <p:cNvSpPr txBox="1">
            <a:spLocks noGrp="1"/>
          </p:cNvSpPr>
          <p:nvPr>
            <p:ph type="ftr" idx="11"/>
          </p:nvPr>
        </p:nvSpPr>
        <p:spPr>
          <a:xfrm>
            <a:off x="2857500" y="4779648"/>
            <a:ext cx="3429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dirty="0"/>
              <a:t>Department of Cyber Security</a:t>
            </a:r>
            <a:endParaRPr dirty="0"/>
          </a:p>
        </p:txBody>
      </p:sp>
      <p:sp>
        <p:nvSpPr>
          <p:cNvPr id="175" name="Google Shape;175;p3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US"/>
              <a:pPr/>
              <a:t>15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051AC0-82AA-4A9D-524B-7FFAAEA0B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8289" y="920947"/>
            <a:ext cx="4867422" cy="346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910</Words>
  <Application>Microsoft Office PowerPoint</Application>
  <PresentationFormat>On-screen Show (16:9)</PresentationFormat>
  <Paragraphs>154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Times New Roman</vt:lpstr>
      <vt:lpstr>Arial</vt:lpstr>
      <vt:lpstr>Bodoni</vt:lpstr>
      <vt:lpstr>Verdana</vt:lpstr>
      <vt:lpstr>Calibri</vt:lpstr>
      <vt:lpstr>Bodoni MT</vt:lpstr>
      <vt:lpstr>Office Theme</vt:lpstr>
      <vt:lpstr>  Mahavir Education Trust’s Shah &amp; Anchor Kutchhi Engineering College Chembur, Mumbai-400088 (An Autonomous Institute Affiliated to University of Mumbai)</vt:lpstr>
      <vt:lpstr>Vision &amp; Mission</vt:lpstr>
      <vt:lpstr>  Program Specific Outcomes 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Stuti</dc:creator>
  <cp:lastModifiedBy>stuti shah</cp:lastModifiedBy>
  <cp:revision>4</cp:revision>
  <dcterms:created xsi:type="dcterms:W3CDTF">2026-07-05T11:54:05Z</dcterms:created>
  <dcterms:modified xsi:type="dcterms:W3CDTF">2026-07-05T12:40:22Z</dcterms:modified>
</cp:coreProperties>
</file>